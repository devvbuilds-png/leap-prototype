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If you go abroad</c:v>
                </c:pt>
              </c:strCache>
            </c:strRef>
          </c:tx>
          <c:spPr>
            <a:solidFill>
              <a:srgbClr val="3B3BB5"/>
            </a:solidFill>
            <a:ln w="41275" cap="flat">
              <a:solidFill>
                <a:srgbClr val="3B3B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3BB5"/>
              </a:solidFill>
              <a:ln w="9525" cap="flat">
                <a:solidFill>
                  <a:srgbClr val="3B3B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  <c:pt idx="3">
                    <c:v>Yr4</c:v>
                  </c:pt>
                  <c:pt idx="4">
                    <c:v>Yr5</c:v>
                  </c:pt>
                  <c:pt idx="5">
                    <c:v>Yr6</c:v>
                  </c:pt>
                  <c:pt idx="6">
                    <c:v>Yr7</c:v>
                  </c:pt>
                  <c:pt idx="7">
                    <c:v>Yr8</c:v>
                  </c:pt>
                  <c:pt idx="8">
                    <c:v>Yr9</c:v>
                  </c:pt>
                  <c:pt idx="9">
                    <c:v>Yr10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30</c:v>
                </c:pt>
                <c:pt idx="3">
                  <c:v>34</c:v>
                </c:pt>
                <c:pt idx="4">
                  <c:v>38</c:v>
                </c:pt>
                <c:pt idx="5">
                  <c:v>42</c:v>
                </c:pt>
                <c:pt idx="6">
                  <c:v>45</c:v>
                </c:pt>
                <c:pt idx="7">
                  <c:v>48</c:v>
                </c:pt>
                <c:pt idx="8">
                  <c:v>51</c:v>
                </c:pt>
                <c:pt idx="9">
                  <c:v>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If you stay</c:v>
                </c:pt>
              </c:strCache>
            </c:strRef>
          </c:tx>
          <c:spPr>
            <a:solidFill>
              <a:srgbClr val="9AA0A6"/>
            </a:solidFill>
            <a:ln w="41275" cap="flat">
              <a:solidFill>
                <a:srgbClr val="9AA0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6"/>
              </a:solidFill>
              <a:ln w="9525" cap="flat">
                <a:solidFill>
                  <a:srgbClr val="9AA0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  <c:pt idx="3">
                    <c:v>Yr4</c:v>
                  </c:pt>
                  <c:pt idx="4">
                    <c:v>Yr5</c:v>
                  </c:pt>
                  <c:pt idx="5">
                    <c:v>Yr6</c:v>
                  </c:pt>
                  <c:pt idx="6">
                    <c:v>Yr7</c:v>
                  </c:pt>
                  <c:pt idx="7">
                    <c:v>Yr8</c:v>
                  </c:pt>
                  <c:pt idx="8">
                    <c:v>Yr9</c:v>
                  </c:pt>
                  <c:pt idx="9">
                    <c:v>Yr10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</c:v>
                </c:pt>
                <c:pt idx="1">
                  <c:v>13.5</c:v>
                </c:pt>
                <c:pt idx="2">
                  <c:v>15</c:v>
                </c:pt>
                <c:pt idx="3">
                  <c:v>16.5</c:v>
                </c:pt>
                <c:pt idx="4">
                  <c:v>18</c:v>
                </c:pt>
                <c:pt idx="5">
                  <c:v>19.5</c:v>
                </c:pt>
                <c:pt idx="6">
                  <c:v>20.5</c:v>
                </c:pt>
                <c:pt idx="7">
                  <c:v>21.5</c:v>
                </c:pt>
                <c:pt idx="8">
                  <c:v>22.5</c:v>
                </c:pt>
                <c:pt idx="9">
                  <c:v>23.5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999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999999"/>
                    </a:solidFill>
                    <a:latin typeface="Arial"/>
                  </a:rPr>
                  <a:t>Salary (₹ LPA)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743200"/>
            <a:ext cx="146304" cy="146304"/>
          </a:xfrm>
          <a:prstGeom prst="ellipse">
            <a:avLst/>
          </a:prstGeom>
          <a:solidFill>
            <a:srgbClr val="3B3BB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331720"/>
            <a:ext cx="173736" cy="173736"/>
          </a:xfrm>
          <a:prstGeom prst="ellipse">
            <a:avLst/>
          </a:prstGeom>
          <a:solidFill>
            <a:srgbClr val="3B3BB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828800"/>
            <a:ext cx="201168" cy="201168"/>
          </a:xfrm>
          <a:prstGeom prst="ellipse">
            <a:avLst/>
          </a:prstGeom>
          <a:solidFill>
            <a:srgbClr val="3B3BB5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1188720"/>
            <a:ext cx="228600" cy="228600"/>
          </a:xfrm>
          <a:prstGeom prst="ellipse">
            <a:avLst/>
          </a:prstGeom>
          <a:solidFill>
            <a:srgbClr val="3B3BB5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2788920"/>
            <a:ext cx="1645920" cy="-1554480"/>
          </a:xfrm>
          <a:prstGeom prst="line">
            <a:avLst/>
          </a:prstGeom>
          <a:noFill/>
          <a:ln w="28575">
            <a:solidFill>
              <a:srgbClr val="3B3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40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713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next leap</a:t>
            </a:r>
            <a:endParaRPr lang="en-US" sz="5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career.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career outcome simulator for working professionals — the honest math on what an abroad degree actually does for you, before you spend ₹40 lakhs finding out.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LeapScholar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 already answers “which college”.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doesn’t yet answer the bigger question: </a:t>
            </a:r>
            <a:pPr indent="0" marL="0">
              <a:buNone/>
            </a:pPr>
            <a:r>
              <a:rPr lang="en-US" sz="18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“should I even do this?”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94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LEAP HAS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61288" y="2788920"/>
            <a:ext cx="274320" cy="274320"/>
          </a:xfrm>
          <a:prstGeom prst="ellipse">
            <a:avLst/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843784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743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Profile-based course recommendations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161288" y="3355848"/>
            <a:ext cx="274320" cy="274320"/>
          </a:xfrm>
          <a:prstGeom prst="ellipse">
            <a:avLst/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341071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3101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/ competitiveness tags (“Ambitious”)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1161288" y="3922776"/>
            <a:ext cx="274320" cy="274320"/>
          </a:xfrm>
          <a:prstGeom prst="ellipse">
            <a:avLst/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397764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8770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this was recommended” reasoning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161288" y="4489704"/>
            <a:ext cx="274320" cy="274320"/>
          </a:xfrm>
          <a:prstGeom prst="ellipse">
            <a:avLst/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54456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44398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&amp; budget matching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309360" y="19202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3B3BB5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675120" y="2194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FILL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693408" y="27889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2843784"/>
            <a:ext cx="155448" cy="1554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2743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outcome prediction — salary, role, trajectory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693408" y="335584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3410712"/>
            <a:ext cx="155448" cy="1554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33101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stay-vs-go view — what if you don’t go?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693408" y="392277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844" y="3977640"/>
            <a:ext cx="155448" cy="15544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38770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breakeven math, with an honest verdict</a:t>
            </a:r>
            <a:endParaRPr lang="en-US" sz="1450" dirty="0"/>
          </a:p>
        </p:txBody>
      </p:sp>
      <p:sp>
        <p:nvSpPr>
          <p:cNvPr id="29" name="Shape 20"/>
          <p:cNvSpPr/>
          <p:nvPr/>
        </p:nvSpPr>
        <p:spPr>
          <a:xfrm>
            <a:off x="6693408" y="448970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2844" y="4544568"/>
            <a:ext cx="155448" cy="15544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78040" y="444398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working professionals, not just students</a:t>
            </a:r>
            <a:endParaRPr lang="en-US" sz="1450" dirty="0"/>
          </a:p>
        </p:txBody>
      </p:sp>
      <p:sp>
        <p:nvSpPr>
          <p:cNvPr id="32" name="Shape 22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EEEEF8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5687568"/>
            <a:ext cx="384048" cy="38404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691640" y="544068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impact: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high-intent professionals one step earlier — at the “am I doing this?” moment — then walk them to a confident yes.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we’re building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professional doing career math — not college shopping.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4297680" cy="4114800"/>
          </a:xfrm>
          <a:prstGeom prst="roundRect">
            <a:avLst>
              <a:gd name="adj" fmla="val 2667"/>
            </a:avLst>
          </a:prstGeom>
          <a:solidFill>
            <a:srgbClr val="21215A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0" y="2377440"/>
            <a:ext cx="1097280" cy="1097280"/>
          </a:xfrm>
          <a:prstGeom prst="ellipse">
            <a:avLst/>
          </a:prstGeom>
          <a:solidFill>
            <a:srgbClr val="3B3B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263347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Stuck Professional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8872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889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years 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4645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SALARY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88920" y="4645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₹8–20 LPA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5084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5084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a ceiling or wants to pivot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55229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88920" y="55229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this worth it for me?”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3212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PAINS WE SOLVE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532120" y="2395728"/>
            <a:ext cx="5897880" cy="804672"/>
          </a:xfrm>
          <a:prstGeom prst="roundRect">
            <a:avLst>
              <a:gd name="adj" fmla="val 11364"/>
            </a:avLst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615184"/>
            <a:ext cx="384048" cy="384048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711196"/>
            <a:ext cx="192024" cy="1920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309360" y="25054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has plateaued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309360" y="27980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role, same ceiling — growth has stalled and they want a real jump.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532120" y="3328416"/>
            <a:ext cx="5897880" cy="804672"/>
          </a:xfrm>
          <a:prstGeom prst="roundRect">
            <a:avLst>
              <a:gd name="adj" fmla="val 11364"/>
            </a:avLst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60720" y="3547872"/>
            <a:ext cx="384048" cy="384048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3643884"/>
            <a:ext cx="192024" cy="1920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34381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Terrified of a bad bet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309360" y="37307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abroad degree is ₹40L+. They have no honest read on whether it pays back.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532120" y="4261104"/>
            <a:ext cx="5897880" cy="804672"/>
          </a:xfrm>
          <a:prstGeom prst="roundRect">
            <a:avLst>
              <a:gd name="adj" fmla="val 11364"/>
            </a:avLst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760720" y="4480560"/>
            <a:ext cx="384048" cy="384048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4576572"/>
            <a:ext cx="192024" cy="1920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09360" y="43708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Drowning in generic advice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309360" y="46634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site sells the dream. Nobody does the math for their specific profile.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532120" y="5193792"/>
            <a:ext cx="5897880" cy="804672"/>
          </a:xfrm>
          <a:prstGeom prst="roundRect">
            <a:avLst>
              <a:gd name="adj" fmla="val 11364"/>
            </a:avLst>
          </a:prstGeom>
          <a:solidFill>
            <a:srgbClr val="F7F7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60720" y="5413248"/>
            <a:ext cx="384048" cy="384048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550926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309360" y="53035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 is ticking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6309360" y="5596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deciding is a year of compounding salary they don’t get back.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Leap: profile to decision in four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flow that ends in a confident, evidence-backed decision.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45440" y="22860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6104" y="2697480"/>
            <a:ext cx="1005840" cy="1005840"/>
          </a:xfrm>
          <a:prstGeom prst="ellipse">
            <a:avLst/>
          </a:prstGeom>
          <a:solidFill>
            <a:srgbClr val="3B3B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136" y="2944368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3616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4040" y="3886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19760" y="437083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smart questions capture who they are, what they want, and their budget.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760" y="376732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6656" y="22860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57320" y="2697480"/>
            <a:ext cx="1005840" cy="1005840"/>
          </a:xfrm>
          <a:prstGeom prst="ellipse">
            <a:avLst/>
          </a:prstGeom>
          <a:solidFill>
            <a:srgbClr val="3B3BB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352" y="2944368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24832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645256" y="3886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690976" y="437083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returns 2–3 realistic options — each framed as a career outcome.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376732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87872" y="22860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28536" y="2697480"/>
            <a:ext cx="1005840" cy="1005840"/>
          </a:xfrm>
          <a:prstGeom prst="ellipse">
            <a:avLst/>
          </a:prstGeom>
          <a:solidFill>
            <a:srgbClr val="3B3BB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68" y="2944368"/>
            <a:ext cx="493776" cy="4937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96048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516472" y="3886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562192" y="437083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both futures: stay vs go, salary over 10 years, breakeven, verdict.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192" y="376732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59088" y="22860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899752" y="2697480"/>
            <a:ext cx="1005840" cy="1005840"/>
          </a:xfrm>
          <a:prstGeom prst="ellipse">
            <a:avLst/>
          </a:prstGeom>
          <a:solidFill>
            <a:srgbClr val="3B3BB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784" y="2944368"/>
            <a:ext cx="493776" cy="49377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567264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9387688" y="3886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9433408" y="437083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next step — counselor, loan, or universities.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hero is step 3 — </a:t>
            </a:r>
            <a:pPr algn="ctr" indent="0" marL="0">
              <a:buNone/>
            </a:pPr>
            <a:r>
              <a:rPr lang="en-US" sz="15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 Leap doesn’t have yet.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Leap doesn’t have yet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futures, ten years. The gap that opens after graduation is the value.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7040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1005840" y="2286000"/>
          <a:ext cx="6583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280160" y="5715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≈ Year 4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11880" y="5715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Software Engineer, 12 LPA → MS abroad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183880" y="1783080"/>
            <a:ext cx="3200400" cy="1298448"/>
          </a:xfrm>
          <a:prstGeom prst="roundRect">
            <a:avLst>
              <a:gd name="adj" fmla="val 8451"/>
            </a:avLst>
          </a:prstGeom>
          <a:solidFill>
            <a:srgbClr val="E8F5F0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03920" y="1984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pPr indent="0" marL="0">
              <a:buNone/>
            </a:pPr>
            <a:r>
              <a:rPr lang="en-US" sz="1600" b="1" dirty="0">
                <a:solidFill>
                  <a:srgbClr val="20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522208" y="2624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Worth-it score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83880" y="3264408"/>
            <a:ext cx="3200400" cy="1298448"/>
          </a:xfrm>
          <a:prstGeom prst="roundRect">
            <a:avLst>
              <a:gd name="adj" fmla="val 8451"/>
            </a:avLst>
          </a:prstGeom>
          <a:solidFill>
            <a:srgbClr val="EEEEF8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03920" y="3465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yrs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522208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break even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83880" y="4745736"/>
            <a:ext cx="3200400" cy="1298448"/>
          </a:xfrm>
          <a:prstGeom prst="roundRect">
            <a:avLst>
              <a:gd name="adj" fmla="val 8451"/>
            </a:avLst>
          </a:prstGeom>
          <a:solidFill>
            <a:srgbClr val="EEEEF8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503920" y="49469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 LPA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522208" y="5586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gain by Yr 10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hood: how the engine thinks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in. Honest, profile-specific outcomes out.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04288"/>
            <a:ext cx="548640" cy="548640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414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3063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years of experience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88720" y="34838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goal (+ their own words)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8720" y="39044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salary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88720" y="4325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tier + CGPA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88720" y="4745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loan need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8872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geographies + timeline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72788" y="201168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3B3BB5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92828" y="23042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16272" y="2427732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78628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 (LLM)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84268" y="3063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full profile like a senior counselor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884268" y="34838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out unrealistic reaches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884268" y="39044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to goal + budget, not just salary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884268" y="4325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salary on both paths over 10 years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884268" y="4745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cost, breakeven &amp; a worth-it score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884268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willing to say “not worth it”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68335" y="201168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88375" y="2304288"/>
            <a:ext cx="548640" cy="548640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535" y="244144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74175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579815" y="3063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realistic paths, each with a headline outcome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579815" y="34838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Stay-vs-go salary trajectory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579815" y="39044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+ 10-year salary delta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8579815" y="4325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verdict + worth-it score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579815" y="4745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&amp; key opportunity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579815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ROI-aware next step</a:t>
            </a:r>
            <a:endParaRPr lang="en-US" sz="12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70" y="3694176"/>
            <a:ext cx="292608" cy="292608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317" y="3694176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runs on an LLM today. In production it sharpens on Leap’s own funded-student outcome data.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 for Leap’s business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 that strengthens the whole funnel — from acquisition to monetization.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59156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0636" y="2423160"/>
            <a:ext cx="777240" cy="777240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20" y="263804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0636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70636" y="3977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in working professionals — a higher-LTV segment than fresh grads — at the earliest “should I?” moment, before competitors are even in the picture.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1348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2828" y="2423160"/>
            <a:ext cx="777240" cy="777240"/>
          </a:xfrm>
          <a:prstGeom prst="ellipse">
            <a:avLst/>
          </a:prstGeom>
          <a:solidFill>
            <a:srgbClr val="EEEE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12" y="263804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2828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792828" y="3977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ROI proof is the loan pitch. “You break even in 4 years” turns a scary ₹40L decision into a rational yes — and hands a warm, qualified lead to LeapFinance.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0354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3B3BB5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15020" y="24231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904" y="263804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1502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615020" y="3977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 is a lender — it knows what its funded students actually earn and repay. The engine gets sharper on data no competitor has. Hard to copy.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3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effect:  </a:t>
            </a:r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of the right people enter the funnel, and more of them convert into loans.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next leap.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prototype, built to feel native to the Leap app — plus the thinking behind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3383280" cy="640080"/>
          </a:xfrm>
          <a:prstGeom prst="roundRect">
            <a:avLst>
              <a:gd name="adj" fmla="val 50000"/>
            </a:avLst>
          </a:prstGeom>
          <a:solidFill>
            <a:srgbClr val="2D2D8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interactive prototype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4343400"/>
            <a:ext cx="3383280" cy="640080"/>
          </a:xfrm>
          <a:prstGeom prst="roundRect">
            <a:avLst>
              <a:gd name="adj" fmla="val 50000"/>
            </a:avLst>
          </a:prstGeom>
          <a:solidFill>
            <a:srgbClr val="2D2D8F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LeapScholar’s design language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4343400"/>
            <a:ext cx="3383280" cy="640080"/>
          </a:xfrm>
          <a:prstGeom prst="roundRect">
            <a:avLst>
              <a:gd name="adj" fmla="val 50000"/>
            </a:avLst>
          </a:prstGeom>
          <a:solidFill>
            <a:srgbClr val="2D2D8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AI-natively, end to 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 ·  devvbuilds@gmail.com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Leap — LeapScholar feature concept</dc:title>
  <dc:subject>PptxGenJS Presentation</dc:subject>
  <dc:creator>Dev</dc:creator>
  <cp:lastModifiedBy>Dev</cp:lastModifiedBy>
  <cp:revision>1</cp:revision>
  <dcterms:created xsi:type="dcterms:W3CDTF">2026-06-22T12:35:27Z</dcterms:created>
  <dcterms:modified xsi:type="dcterms:W3CDTF">2026-06-22T12:35:27Z</dcterms:modified>
</cp:coreProperties>
</file>